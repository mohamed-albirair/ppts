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sldIdLst>
    <p:sldId id="256" r:id="rId2"/>
    <p:sldId id="411" r:id="rId3"/>
    <p:sldId id="469" r:id="rId4"/>
    <p:sldId id="470" r:id="rId5"/>
    <p:sldId id="471" r:id="rId6"/>
    <p:sldId id="472" r:id="rId7"/>
    <p:sldId id="473" r:id="rId8"/>
    <p:sldId id="474" r:id="rId9"/>
    <p:sldId id="424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C303362D-C9AB-481F-B5F0-60DA76A3CE93}">
          <p14:sldIdLst>
            <p14:sldId id="256"/>
            <p14:sldId id="411"/>
          </p14:sldIdLst>
        </p14:section>
        <p14:section name="Sample-size calculations" id="{14CAF713-F604-485B-A845-4C18F98AC282}">
          <p14:sldIdLst>
            <p14:sldId id="469"/>
            <p14:sldId id="470"/>
            <p14:sldId id="471"/>
            <p14:sldId id="472"/>
            <p14:sldId id="473"/>
            <p14:sldId id="474"/>
            <p14:sldId id="424"/>
          </p14:sldIdLst>
        </p14:section>
        <p14:section name="Supplementary" id="{DBEB6047-058F-4BDF-BE14-4C3E18159857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8E8E8"/>
    <a:srgbClr val="7F7F7F"/>
    <a:srgbClr val="0097A7"/>
    <a:srgbClr val="F1E1E1"/>
    <a:srgbClr val="E8EAE9"/>
    <a:srgbClr val="FED4D4"/>
    <a:srgbClr val="FBE3D6"/>
    <a:srgbClr val="D5F1FC"/>
    <a:srgbClr val="D9F9E7"/>
    <a:srgbClr val="FFAB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 showGuides="1">
      <p:cViewPr varScale="1">
        <p:scale>
          <a:sx n="64" d="100"/>
          <a:sy n="64" d="100"/>
        </p:scale>
        <p:origin x="1044" y="66"/>
      </p:cViewPr>
      <p:guideLst>
        <p:guide orient="horz" pos="2184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F89DEE-1D90-4938-98FB-F3BBB4129318}" type="datetimeFigureOut">
              <a:rPr lang="en-US" smtClean="0"/>
              <a:t>12/6/2025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76E4B20-45D2-4785-ACF7-FD1DB34FBE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34419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76E4B20-45D2-4785-ACF7-FD1DB34FBE4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430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7B70C-8442-100F-3394-0BA4D54CE30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7CD122-679D-4FF3-30FF-E92345F3AA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F242A-E49C-B1F7-61AA-E7A9B94535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2E194-60B8-4E70-B56A-14C29635914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F9DD67-2876-E55C-BE34-39EA97E12B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F6151B-9611-7DC6-5639-43D53857E5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30804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22A61E-0093-95D6-613E-4FA3848330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67D0F5-1A89-F067-E122-F6AFC2005A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665F-602E-F301-40EE-A714E3EF7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CD4FF-5BFC-4974-ACBF-6FC31DFDD124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76169F-222D-997D-D2EE-05B710ED8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A2F4C4-56F2-5CAE-06E9-B696942CE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57814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C26502-7A16-6C67-F54D-D7E97F6C30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D6DC41-FDB2-A38F-9FAC-62B93C3081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7E8C71-879A-6E60-1898-4D6618C22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E7A7DF-9E19-4C73-BD99-108704D0B752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F1C72C-45CB-EB07-2FB8-840A138A40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56C7CE-7B2D-EB9A-038C-3D3C817820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19195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5E795-A2D7-1F6E-F0AF-F9B73CBBD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2BCC65-4A27-FCE7-0347-AA1F9B28D2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83E4D1-70C1-5F34-EE6E-C6B51D5C97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307DF0-4F31-4BFF-39BA-507902627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A23C33-77A8-4891-B47C-B0E341C85E44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BA6CF8-0B76-00C7-F18D-ECC2985C3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1FD2B3-353E-3395-54DA-7870443BA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45007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6E356A-8BB2-5F51-6AC7-A2F274F93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E3B5A08-4EDD-8BC3-48C0-B9B8CE63A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AB3882-070A-07CD-48E8-F9683B795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FEA600-F721-F28B-6AAA-C200FA68B4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0166468-E886-E76F-8826-D9AB84C1B33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FBB26B-7336-3BBF-8A43-90A23B14F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74C54E-4B48-4287-9BD8-882B0B653A15}" type="datetime1">
              <a:rPr lang="en-US" smtClean="0"/>
              <a:t>12/6/2025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BDD1496-6D51-0C5F-07F8-D49E73679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5C83C39-4EC9-C59D-E49C-591BC5EC77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62896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EC0D87-9EDE-2AAF-B708-08F4CD404C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687BE4-2C5F-1D69-F956-20C4F594F4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5A502B-FFA8-4C7A-8C5F-03AB532A224D}" type="datetime1">
              <a:rPr lang="en-US" smtClean="0"/>
              <a:t>12/6/2025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10B869-7561-311B-D81F-1D4424027F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6144C59-ED39-155C-F775-E0C69D7DC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13658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8392A1D-3F2B-6620-0C9F-5B02CDBD7F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C2291-7737-4B6C-A3B1-9A58450A8E99}" type="datetime1">
              <a:rPr lang="en-US" smtClean="0"/>
              <a:t>12/6/2025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AAE8100-2C7F-E0FD-5715-CC59A532AC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76AD95-3DC6-5463-C099-B2C25F1F4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78351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6FCA60-19C7-EEA7-E0F6-D18AB1B96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9AF1A2-140E-B9D6-124B-79D7D6E7D4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D379A-0879-1073-D914-81FD68D403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F8745F-0463-7533-4E48-E39F9FEA50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B29C5B-67BB-4641-B38E-8E2419569036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87EE9A-EB4D-7EE8-71E6-EAB530A520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8F67E94-1A88-BE0E-D97C-4F853F6884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256532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3966CA-C287-F3A2-FF42-7B43BD3F83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5BF00FF-91BC-7F55-AB55-91C830E2F1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DE9532-967B-DCEC-B0A3-5DE05724C9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961588-B585-69CA-6043-30EDDCE5E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75BE0-76EA-4779-A118-E29747D0A9BD}" type="datetime1">
              <a:rPr lang="en-US" smtClean="0"/>
              <a:t>12/6/2025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0EF4F70-580D-3CB5-C9B9-DDF3C28ACC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99CF76-859D-9976-C996-38AB9D2BD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61549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1256F1-27B8-F157-3F21-FADE0C396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926BD5-63EA-AE6B-399C-ED12A5437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10C6A8-2080-B1FC-089C-F77D6EDD1C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9DC9B5-4018-4155-BE6F-1D436DFA15F0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E1A6C5-0B38-A511-8BA3-3E11550289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A8880B-FCCA-3865-8BE5-F95E4864C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4524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95F7C14-08F0-1971-7051-696A5341A82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9211444-89BD-E7F3-7CDA-046B10D45A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F9E542-27B8-36C9-5D39-537BC7F98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7CE7DC-C501-49C4-9B32-30349A87EB0C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D4E4D7-8CBE-528D-7B54-9641432CB8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ABD627-34A8-A9EB-DCB2-F507B1A94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036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AB9D8FE-10B2-FCDD-A9E9-E4DCF9D20C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9D73E0-928F-3F77-CE73-CA65AFB593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6D5006-38C5-F9E0-54D5-D6A49A755E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4D9A9AB-EC8D-4363-9402-6FF3C32FBBFB}" type="datetime1">
              <a:rPr lang="en-US" smtClean="0"/>
              <a:t>12/6/2025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3F1BFB-EC38-BC3D-6329-DE85E24F0F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 dirty="0"/>
              <a:t>Mohamed Albirair, MBBS, PhD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5CBF0D-A257-D18C-868F-30ABAE5FCD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1312AC9-9E42-4E1A-B167-37D7717DD4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2841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mailto:mtwfig@gmail.com" TargetMode="External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hyperlink" Target="https://www.linkedin.com/in/mohamed-albirair-0206bbb2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82873A-61D8-0647-EABF-4E951442E4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90662"/>
            <a:ext cx="9144000" cy="3011487"/>
          </a:xfrm>
        </p:spPr>
        <p:txBody>
          <a:bodyPr>
            <a:normAutofit/>
          </a:bodyPr>
          <a:lstStyle/>
          <a:p>
            <a:r>
              <a:rPr lang="en-US" b="1" dirty="0"/>
              <a:t>Sample-Size Calculations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7863A5-B54A-CBE7-6F54-78F5A701737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11688"/>
            <a:ext cx="9144000" cy="1123950"/>
          </a:xfrm>
        </p:spPr>
        <p:txBody>
          <a:bodyPr anchor="b"/>
          <a:lstStyle/>
          <a:p>
            <a:r>
              <a:rPr lang="en-US" dirty="0"/>
              <a:t>Mohamed Albirair, MBBS, MPH, PhD</a:t>
            </a:r>
          </a:p>
          <a:p>
            <a:r>
              <a:rPr lang="en-US" dirty="0"/>
              <a:t>Dec 2025</a:t>
            </a:r>
          </a:p>
        </p:txBody>
      </p:sp>
    </p:spTree>
    <p:extLst>
      <p:ext uri="{BB962C8B-B14F-4D97-AF65-F5344CB8AC3E}">
        <p14:creationId xmlns:p14="http://schemas.microsoft.com/office/powerpoint/2010/main" val="7320677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E448B1-9981-73CE-5223-6FA8419BCC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Today’s 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8D019-D84D-6764-2BD9-8EA34B3E16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Relationship between Study Designs and Sample-Size Calculations.</a:t>
            </a:r>
          </a:p>
          <a:p>
            <a:endParaRPr lang="en-US" dirty="0"/>
          </a:p>
          <a:p>
            <a:r>
              <a:rPr lang="en-US" dirty="0"/>
              <a:t>The relationship between Power Calculations and Sample-Size Calculations.</a:t>
            </a:r>
          </a:p>
          <a:p>
            <a:endParaRPr lang="en-US" dirty="0"/>
          </a:p>
          <a:p>
            <a:r>
              <a:rPr lang="en-US" dirty="0"/>
              <a:t>Demonstration of Sample-Size Calculations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1B7ED2-575D-ED53-A233-5C52E8BD3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F3A271-00AA-F9A4-4F21-5F33FACA8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96161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85EF6BFE-A378-CB74-CE55-8EF96E261A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Fundamental Question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5CFDA0E1-0B2B-367C-5C51-808CC753D5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dirty="0"/>
              <a:t>Why can't we just study everyone?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Ideal World: Study the entire population. Get the perfect answer!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Real World: Limited time, money, and resources.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Our Compromise: We study a sample.</a:t>
            </a:r>
          </a:p>
          <a:p>
            <a:r>
              <a:rPr lang="en-US" dirty="0"/>
              <a:t>The Problem: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Too small a sample: A waste of resources. Your finding might be due to chance! 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Too large a sample: A waste of resources. You detect unimportant findings!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Just the right sample: Ethical, efficient, and credible.</a:t>
            </a:r>
          </a:p>
          <a:p>
            <a:r>
              <a:rPr lang="en-US" dirty="0"/>
              <a:t>Sample size calculation finds this "just right" point.</a:t>
            </a:r>
            <a:br>
              <a:rPr lang="en-US" dirty="0"/>
            </a:b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654F11-42A3-CC0C-B7A6-0FE896DC9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64F4F9-1C24-A720-5B59-C5174E4D4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5957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87EFF4-8FDE-3958-7F15-B976150AA1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Sample-Size Calculation Involve?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C73646-591E-D8F2-C7D9-38F59653DAB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It's a pre-study checklist to define: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What are you looking for? The effect, or effect size (ES)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How sure do you want to be? The confidence level</a:t>
            </a:r>
          </a:p>
          <a:p>
            <a:r>
              <a:rPr lang="en-US" dirty="0"/>
              <a:t>The Two Key "Certainty" Concepts: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Statistical Power (1-β): The chance of finding an effect if it really exists.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i="1" dirty="0"/>
              <a:t>Analogy: The sensitivity of a blood test to detect a real disease.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Usually set at 80%.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Significance Level (α): The probability of claiming an effect when there is none (false positive).</a:t>
            </a:r>
          </a:p>
          <a:p>
            <a:pPr lvl="2">
              <a:buFont typeface="Wingdings" panose="05000000000000000000" pitchFamily="2" charset="2"/>
              <a:buChar char="§"/>
            </a:pPr>
            <a:r>
              <a:rPr lang="en-US" i="1" dirty="0"/>
              <a:t>Analogy: The blood test results are positive, but the person does not have the disease.</a:t>
            </a:r>
            <a:endParaRPr lang="en-US" dirty="0"/>
          </a:p>
          <a:p>
            <a:pPr lvl="2">
              <a:buFont typeface="Wingdings" panose="05000000000000000000" pitchFamily="2" charset="2"/>
              <a:buChar char="§"/>
            </a:pPr>
            <a:r>
              <a:rPr lang="en-US" dirty="0"/>
              <a:t>Usually set at 5% (p &lt; 0.05).</a:t>
            </a:r>
          </a:p>
          <a:p>
            <a:r>
              <a:rPr lang="en-US" dirty="0"/>
              <a:t>The output is a single number: the count of participants you need.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652B5A-2191-5E56-AD80-5041547B9E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5F468-4FDD-02EF-687C-9FE1F626D7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68417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ABD3B7-864D-2463-7D5F-5A1358C14F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9CBA9B-6558-D1AE-F546-F313399243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Research Question: "What is the average height of adult women in our city?"</a:t>
            </a:r>
          </a:p>
          <a:p>
            <a:r>
              <a:rPr lang="en-US" dirty="0"/>
              <a:t>Your Goal: Estimate a single number (the mean) with high precision.</a:t>
            </a:r>
          </a:p>
          <a:p>
            <a:r>
              <a:rPr lang="en-US" dirty="0"/>
              <a:t>What you need to specify:</a:t>
            </a:r>
          </a:p>
          <a:p>
            <a:pPr lvl="1"/>
            <a:r>
              <a:rPr lang="en-US" dirty="0"/>
              <a:t>How precise? (The "Margin of Error") Do you want to know the height within ±1 cm? Or ±5 cm?</a:t>
            </a:r>
          </a:p>
          <a:p>
            <a:pPr lvl="1"/>
            <a:r>
              <a:rPr lang="en-US" dirty="0"/>
              <a:t>How variable is height? (Standard Deviation, from literature or pilot data).</a:t>
            </a:r>
          </a:p>
          <a:p>
            <a:pPr lvl="1"/>
            <a:r>
              <a:rPr lang="en-US" dirty="0"/>
              <a:t>How confident? (Usually 95%).</a:t>
            </a:r>
          </a:p>
          <a:p>
            <a:r>
              <a:rPr lang="en-US" dirty="0"/>
              <a:t>Key Insight: The sample size depends on desired precision and population variability. There is no "case" and "control" group.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2D0F603-0561-35DB-1FE5-0C466399F1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C3DEBA-5EE2-C6EA-4ED2-2D959C33A6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17359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C469D9-0541-E440-0219-34348085C8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B9C1AD-F964-756E-32F8-A30A35AF1D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Research Question: "Is smoking associated with lung cancer?"</a:t>
            </a:r>
          </a:p>
          <a:p>
            <a:r>
              <a:rPr lang="en-US" dirty="0"/>
              <a:t>Your Design: You find a group of people with lung cancer (cases) and a group without (controls). You look back to see who smoked.</a:t>
            </a:r>
          </a:p>
          <a:p>
            <a:r>
              <a:rPr lang="en-US" dirty="0"/>
              <a:t>Your Goal: Compare the </a:t>
            </a:r>
            <a:r>
              <a:rPr lang="en-US" i="1" dirty="0"/>
              <a:t>odds</a:t>
            </a:r>
            <a:r>
              <a:rPr lang="en-US" dirty="0"/>
              <a:t> of exposure (smoking) between the two groups.</a:t>
            </a:r>
          </a:p>
          <a:p>
            <a:r>
              <a:rPr lang="en-US" dirty="0"/>
              <a:t>What you need to specify:</a:t>
            </a:r>
          </a:p>
          <a:p>
            <a:pPr lvl="1"/>
            <a:r>
              <a:rPr lang="en-US" dirty="0"/>
              <a:t>The expected exposure rate in the controls (e.g., 20% of controls smoke).</a:t>
            </a:r>
          </a:p>
          <a:p>
            <a:pPr lvl="1"/>
            <a:r>
              <a:rPr lang="en-US" dirty="0"/>
              <a:t>The minimum Odds Ratio (OR) you want to detect (e.g., you want to detect if smokers have at least 2x the odds of cancer).</a:t>
            </a:r>
          </a:p>
          <a:p>
            <a:pPr lvl="1"/>
            <a:r>
              <a:rPr lang="en-US" dirty="0"/>
              <a:t>Your standard power and significance level.</a:t>
            </a:r>
          </a:p>
          <a:p>
            <a:r>
              <a:rPr lang="en-US" dirty="0"/>
              <a:t>Key Insight: The sample size depends on the ratio of cases to controls and the effect size (Odds Ratio) you want to detect.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F09737-E831-AFBE-1E89-84CA19BCB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B14D9-C4C0-51AA-C8FA-59F54034F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61215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DEAAFF-ACA8-8DEE-22B5-7E4B1BE1FA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 3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A333E4-9F34-6572-A4E8-B57DDE35CF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Research Question: "Does a new hormone therapy increase the risk of heart attack?"</a:t>
            </a:r>
          </a:p>
          <a:p>
            <a:r>
              <a:rPr lang="en-US" dirty="0"/>
              <a:t>Your Design: You take a group of people </a:t>
            </a:r>
            <a:r>
              <a:rPr lang="en-US" i="1" dirty="0"/>
              <a:t>without</a:t>
            </a:r>
            <a:r>
              <a:rPr lang="en-US" dirty="0"/>
              <a:t> heart attacks. You note who is exposed to the therapy and who is not. You follow them forward in time to see who develops a heart attack.</a:t>
            </a:r>
          </a:p>
          <a:p>
            <a:r>
              <a:rPr lang="en-US" dirty="0"/>
              <a:t>Your Goal: Compare the </a:t>
            </a:r>
            <a:r>
              <a:rPr lang="en-US" i="1" dirty="0"/>
              <a:t>risk</a:t>
            </a:r>
            <a:r>
              <a:rPr lang="en-US" dirty="0"/>
              <a:t> of the outcome (heart attack) between the two groups.</a:t>
            </a:r>
          </a:p>
          <a:p>
            <a:r>
              <a:rPr lang="en-US" dirty="0"/>
              <a:t>What you need to specify:</a:t>
            </a:r>
          </a:p>
          <a:p>
            <a:pPr lvl="1"/>
            <a:r>
              <a:rPr lang="en-US" dirty="0"/>
              <a:t>The expected outcome rate in the unexposed group (e.g., 2% get heart attacks).</a:t>
            </a:r>
          </a:p>
          <a:p>
            <a:pPr lvl="1"/>
            <a:r>
              <a:rPr lang="en-US" dirty="0"/>
              <a:t>The minimum Risk Ratio (RR) you want to detect (e.g., you want to detect if the therapy at least doubles the risk).</a:t>
            </a:r>
          </a:p>
          <a:p>
            <a:pPr lvl="1"/>
            <a:r>
              <a:rPr lang="en-US" dirty="0"/>
              <a:t>Your standard power and significance level.</a:t>
            </a:r>
          </a:p>
          <a:p>
            <a:r>
              <a:rPr lang="en-US" dirty="0"/>
              <a:t>Key Insight: The sample size depends heavily on how rare the outcome is.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B75B00-C9C1-6AE0-B357-B1E4B4D14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43AD2D-3F03-BB50-0D2A-AAFA1E85D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01449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04C4A-7E3A-53D1-7E10-BF0C2BD6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Get Started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5DDB9-BF0E-AA4A-BF8C-A3954023B6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Clearly define your primary objective and study design.</a:t>
            </a:r>
          </a:p>
          <a:p>
            <a:r>
              <a:rPr lang="en-US" dirty="0"/>
              <a:t>Find your parameters from the scientific literature or conduct a pilot study.</a:t>
            </a:r>
          </a:p>
          <a:p>
            <a:r>
              <a:rPr lang="en-US" dirty="0"/>
              <a:t>Use free, validated software: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PS: Power and Sample Size (Free desktop application)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G*Power (Free desktop application)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Online Calculators (Many available, use with caution)</a:t>
            </a:r>
          </a:p>
          <a:p>
            <a:r>
              <a:rPr lang="en-US" dirty="0"/>
              <a:t>You don't need to be a statistician to understand the concepts, but you should consult one for the calculations!</a:t>
            </a:r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43DED8-272F-69AE-9BB3-893A2FB24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8CF0E6-3506-32AE-4602-F158A2979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46015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9076C750-2741-79E3-FEBB-02EDC7497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Thank you!</a:t>
            </a:r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3EADAD7-B030-9C0C-92C0-9192A0DC3E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676400" y="4598987"/>
            <a:ext cx="9671050" cy="1500187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Email: </a:t>
            </a:r>
            <a:r>
              <a:rPr lang="en-US" sz="2000" dirty="0">
                <a:hlinkClick r:id="rId3"/>
              </a:rPr>
              <a:t>mtalbirair@gmail.com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/>
              <a:t>LinkedIn: </a:t>
            </a:r>
            <a:r>
              <a:rPr lang="en-US" sz="2000" dirty="0">
                <a:hlinkClick r:id="rId4"/>
              </a:rPr>
              <a:t>https://www.linkedin.com/in/mohamed-albirair-0206bbb2/</a:t>
            </a:r>
            <a:endParaRPr lang="en-US" sz="2000" dirty="0"/>
          </a:p>
          <a:p>
            <a:pPr>
              <a:lnSpc>
                <a:spcPct val="150000"/>
              </a:lnSpc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4" name="Graphic 3" descr="Email with solid fill">
            <a:extLst>
              <a:ext uri="{FF2B5EF4-FFF2-40B4-BE49-F238E27FC236}">
                <a16:creationId xmlns:a16="http://schemas.microsoft.com/office/drawing/2014/main" id="{BD9DA34E-5336-E1CC-7C54-6220D0F7BC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825" y="4593431"/>
            <a:ext cx="577850" cy="577850"/>
          </a:xfrm>
          <a:prstGeom prst="rect">
            <a:avLst/>
          </a:prstGeom>
        </p:spPr>
      </p:pic>
      <p:pic>
        <p:nvPicPr>
          <p:cNvPr id="5" name="Graphic 4">
            <a:extLst>
              <a:ext uri="{FF2B5EF4-FFF2-40B4-BE49-F238E27FC236}">
                <a16:creationId xmlns:a16="http://schemas.microsoft.com/office/drawing/2014/main" id="{F90F8466-05AC-652B-C7B6-8F52F6DDE9D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12825" y="5202237"/>
            <a:ext cx="577850" cy="57785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610EC9-267B-F99F-787C-F8C15435A4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Mohamed Albirair, MBBS, PhD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41706F-ED71-82B2-4F62-211A3FC78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312AC9-9E42-4E1A-B167-37D7717DD4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0719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10412</TotalTime>
  <Words>857</Words>
  <Application>Microsoft Office PowerPoint</Application>
  <PresentationFormat>Widescreen</PresentationFormat>
  <Paragraphs>85</Paragraphs>
  <Slides>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5" baseType="lpstr">
      <vt:lpstr>Aptos</vt:lpstr>
      <vt:lpstr>Aptos Display</vt:lpstr>
      <vt:lpstr>Arial</vt:lpstr>
      <vt:lpstr>Courier New</vt:lpstr>
      <vt:lpstr>Wingdings</vt:lpstr>
      <vt:lpstr>Office Theme</vt:lpstr>
      <vt:lpstr>Sample-Size Calculations</vt:lpstr>
      <vt:lpstr>Today’s Outline</vt:lpstr>
      <vt:lpstr>The Fundamental Question</vt:lpstr>
      <vt:lpstr>What Sample-Size Calculation Involve?</vt:lpstr>
      <vt:lpstr>Example 1</vt:lpstr>
      <vt:lpstr>Example 2</vt:lpstr>
      <vt:lpstr>Example 3</vt:lpstr>
      <vt:lpstr>How to Get Started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Albirair, Mohamed</dc:creator>
  <cp:lastModifiedBy>Mohamed Albirair</cp:lastModifiedBy>
  <cp:revision>27</cp:revision>
  <dcterms:created xsi:type="dcterms:W3CDTF">2025-09-05T00:25:43Z</dcterms:created>
  <dcterms:modified xsi:type="dcterms:W3CDTF">2025-12-06T23:31:29Z</dcterms:modified>
</cp:coreProperties>
</file>